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548640"/>
            <a:ext cx="1280160" cy="128016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1371600"/>
            <a:ext cx="914400" cy="914400"/>
          </a:xfrm>
          <a:prstGeom prst="ellipse">
            <a:avLst/>
          </a:prstGeom>
          <a:solidFill>
            <a:srgbClr val="E8A33D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966960" y="2103120"/>
            <a:ext cx="640080" cy="640080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10312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 Federated Digital Twins</a:t>
            </a:r>
            <a:endParaRPr lang="en-US" sz="3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Predictive Maintenance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3703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M.Tech Dissertation Proposal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4343400"/>
            <a:ext cx="292608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617720"/>
            <a:ext cx="6400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Author: 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Vishal Shah
</a:t>
            </a:r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Dhanashree Barbole
</a:t>
            </a:r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Co-Guide: 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Tanveer Ahmed
</a:t>
            </a:r>
            <a:pPr algn="l"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Symbiosis Institute of Technology, Pune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 &amp; Motivation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federated learning, digital twins, and explainability need to come together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80808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20240"/>
            <a:ext cx="502920" cy="502920"/>
          </a:xfrm>
          <a:prstGeom prst="roundRect">
            <a:avLst>
              <a:gd name="adj" fmla="val 49091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00200" y="19659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914400" y="2660904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246888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factory sites each hold sensor data in isolation — raw data cannot be shared due to privacy and competitive concerns.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14400" y="3511296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319272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site's model learns from only a fraction of the organization's total failure knowledge.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14400" y="4361688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4169664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RUL predictions are black-box scores — engineers hesitate to act on maintenance calls they cannot verify.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14400" y="5212080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5" name="Text 13"/>
          <p:cNvSpPr/>
          <p:nvPr/>
        </p:nvSpPr>
        <p:spPr>
          <a:xfrm>
            <a:off x="1188720" y="5020056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existing framework combines federated learning, digital twins, and explainability for predictive maintenance.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72200" y="1600200"/>
            <a:ext cx="5394960" cy="4572000"/>
          </a:xfrm>
          <a:prstGeom prst="roundRect">
            <a:avLst>
              <a:gd name="adj" fmla="val 24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80808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37960" y="1920240"/>
            <a:ext cx="502920" cy="502920"/>
          </a:xfrm>
          <a:prstGeom prst="roundRect">
            <a:avLst>
              <a:gd name="adj" fmla="val 49091"/>
            </a:avLst>
          </a:prstGeom>
          <a:solidFill>
            <a:srgbClr val="E8A33D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223760" y="19659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Opportunity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6537960" y="2660904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1" name="Text 19"/>
          <p:cNvSpPr/>
          <p:nvPr/>
        </p:nvSpPr>
        <p:spPr>
          <a:xfrm>
            <a:off x="6812280" y="246888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learning trains one shared model across sites while raw data never leaves its site.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537960" y="3511296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3" name="Text 21"/>
          <p:cNvSpPr/>
          <p:nvPr/>
        </p:nvSpPr>
        <p:spPr>
          <a:xfrm>
            <a:off x="6812280" y="3319272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twins provide a natural, site-specific representation of each machine to build on.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537960" y="4361688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5" name="Text 23"/>
          <p:cNvSpPr/>
          <p:nvPr/>
        </p:nvSpPr>
        <p:spPr>
          <a:xfrm>
            <a:off x="6812280" y="4169664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Prototype-based explainability gives case-based, human-understandable reasons for predictions.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537960" y="5212080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7" name="Text 25"/>
          <p:cNvSpPr/>
          <p:nvPr/>
        </p:nvSpPr>
        <p:spPr>
          <a:xfrm>
            <a:off x="6812280" y="5020056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QR-DQN/CVaR risk-aware layer turns predictions into actionable maintenance timing.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Objectives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3716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54480" y="1307592"/>
            <a:ext cx="3291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Federated Learning Framework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937760" y="1307592"/>
            <a:ext cx="6492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multiple manufacturing sites to jointly train a RUL prediction model without sharing raw sensor data.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203704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340864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3408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554480" y="2276856"/>
            <a:ext cx="3291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Twin Representation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937760" y="2276856"/>
            <a:ext cx="6492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 each site's machinery via Digital Twins and extract shareable failure-mode prototypes.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172968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331012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3101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554480" y="3246120"/>
            <a:ext cx="3291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Prototype-Based Explainability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937760" y="3246120"/>
            <a:ext cx="6492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 ProtoPNet-style XAI to generate human-understandable, case-based explanations for RUL predictions.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142232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4279392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554480" y="4215384"/>
            <a:ext cx="3291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Risk-Aware Decision Layer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4937760" y="4215384"/>
            <a:ext cx="6492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 QR-DQN/CVaR layer to recommend maintenance timing based on identified failure patterns.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5111496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" y="5248656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52486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554480" y="5184648"/>
            <a:ext cx="3291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Benchmarking &amp; Evaluation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4937760" y="5184648"/>
            <a:ext cx="6492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against centralized and standard federated baselines on PRONOSTIA and NASA C-MAPSS.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Methodology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2514600" cy="1051560"/>
          </a:xfrm>
          <a:prstGeom prst="roundRect">
            <a:avLst>
              <a:gd name="adj" fmla="val 8696"/>
            </a:avLst>
          </a:prstGeom>
          <a:solidFill>
            <a:srgbClr val="1C7293"/>
          </a:solidFill>
          <a:ln/>
          <a:effectLst>
            <a:outerShdw sx="100000" sy="100000" kx="0" ky="0" algn="bl" rotWithShape="0" blurRad="50800" dist="12700" dir="5400000">
              <a:srgbClr val="80808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417320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081528" y="1869948"/>
            <a:ext cx="219456" cy="146304"/>
          </a:xfrm>
          <a:prstGeom prst="rightArrow">
            <a:avLst/>
          </a:prstGeom>
          <a:solidFill>
            <a:srgbClr val="8A8A8A"/>
          </a:solidFill>
          <a:ln/>
        </p:spPr>
      </p:sp>
      <p:sp>
        <p:nvSpPr>
          <p:cNvPr id="6" name="Shape 4"/>
          <p:cNvSpPr/>
          <p:nvPr/>
        </p:nvSpPr>
        <p:spPr>
          <a:xfrm>
            <a:off x="3319272" y="1417320"/>
            <a:ext cx="2514600" cy="1051560"/>
          </a:xfrm>
          <a:prstGeom prst="roundRect">
            <a:avLst>
              <a:gd name="adj" fmla="val 8696"/>
            </a:avLst>
          </a:prstGeom>
          <a:solidFill>
            <a:srgbClr val="1C7293"/>
          </a:solidFill>
          <a:ln/>
          <a:effectLst>
            <a:outerShdw sx="100000" sy="100000" kx="0" ky="0" algn="bl" rotWithShape="0" blurRad="50800" dist="12700" dir="5400000">
              <a:srgbClr val="80808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19272" y="1417320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852160" y="1869948"/>
            <a:ext cx="219456" cy="146304"/>
          </a:xfrm>
          <a:prstGeom prst="rightArrow">
            <a:avLst/>
          </a:prstGeom>
          <a:solidFill>
            <a:srgbClr val="8A8A8A"/>
          </a:solidFill>
          <a:ln/>
        </p:spPr>
      </p:sp>
      <p:sp>
        <p:nvSpPr>
          <p:cNvPr id="9" name="Shape 7"/>
          <p:cNvSpPr/>
          <p:nvPr/>
        </p:nvSpPr>
        <p:spPr>
          <a:xfrm>
            <a:off x="6089904" y="1417320"/>
            <a:ext cx="2514600" cy="1051560"/>
          </a:xfrm>
          <a:prstGeom prst="roundRect">
            <a:avLst>
              <a:gd name="adj" fmla="val 8696"/>
            </a:avLst>
          </a:prstGeom>
          <a:solidFill>
            <a:srgbClr val="2E7D32"/>
          </a:solidFill>
          <a:ln/>
          <a:effectLst>
            <a:outerShdw sx="100000" sy="100000" kx="0" ky="0" algn="bl" rotWithShape="0" blurRad="50800" dist="12700" dir="5400000">
              <a:srgbClr val="80808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89904" y="1417320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Client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 (A, B, C)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622792" y="1869948"/>
            <a:ext cx="219456" cy="146304"/>
          </a:xfrm>
          <a:prstGeom prst="rightArrow">
            <a:avLst/>
          </a:prstGeom>
          <a:solidFill>
            <a:srgbClr val="8A8A8A"/>
          </a:solidFill>
          <a:ln/>
        </p:spPr>
      </p:sp>
      <p:sp>
        <p:nvSpPr>
          <p:cNvPr id="12" name="Shape 10"/>
          <p:cNvSpPr/>
          <p:nvPr/>
        </p:nvSpPr>
        <p:spPr>
          <a:xfrm>
            <a:off x="8860536" y="1417320"/>
            <a:ext cx="2514600" cy="1051560"/>
          </a:xfrm>
          <a:prstGeom prst="roundRect">
            <a:avLst>
              <a:gd name="adj" fmla="val 8696"/>
            </a:avLst>
          </a:prstGeom>
          <a:solidFill>
            <a:srgbClr val="B34700"/>
          </a:solidFill>
          <a:ln/>
          <a:effectLst>
            <a:outerShdw sx="100000" sy="100000" kx="0" ky="0" algn="bl" rotWithShape="0" blurRad="50800" dist="12700" dir="5400000">
              <a:srgbClr val="80808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860536" y="1417320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(FedAvg)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577840" y="2542032"/>
            <a:ext cx="457200" cy="548640"/>
          </a:xfrm>
          <a:prstGeom prst="downArrow">
            <a:avLst/>
          </a:prstGeom>
          <a:solidFill>
            <a:srgbClr val="8A8A8A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3337560"/>
            <a:ext cx="3246120" cy="1051560"/>
          </a:xfrm>
          <a:prstGeom prst="roundRect">
            <a:avLst>
              <a:gd name="adj" fmla="val 8696"/>
            </a:avLst>
          </a:prstGeom>
          <a:solidFill>
            <a:srgbClr val="7B1FA2"/>
          </a:solidFill>
          <a:ln/>
          <a:effectLst>
            <a:outerShdw sx="100000" sy="100000" kx="0" ky="0" algn="bl" rotWithShape="0" blurRad="50800" dist="12700" dir="5400000">
              <a:srgbClr val="80808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333756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Prototype-Based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849624" y="3790188"/>
            <a:ext cx="310896" cy="146304"/>
          </a:xfrm>
          <a:prstGeom prst="rightArrow">
            <a:avLst/>
          </a:prstGeom>
          <a:solidFill>
            <a:srgbClr val="8A8A8A"/>
          </a:solidFill>
          <a:ln/>
        </p:spPr>
      </p:sp>
      <p:sp>
        <p:nvSpPr>
          <p:cNvPr id="18" name="Shape 16"/>
          <p:cNvSpPr/>
          <p:nvPr/>
        </p:nvSpPr>
        <p:spPr>
          <a:xfrm>
            <a:off x="4160520" y="3337560"/>
            <a:ext cx="3246120" cy="1051560"/>
          </a:xfrm>
          <a:prstGeom prst="roundRect">
            <a:avLst>
              <a:gd name="adj" fmla="val 8696"/>
            </a:avLst>
          </a:prstGeom>
          <a:solidFill>
            <a:srgbClr val="C62828"/>
          </a:solidFill>
          <a:ln/>
          <a:effectLst>
            <a:outerShdw sx="100000" sy="100000" kx="0" ky="0" algn="bl" rotWithShape="0" blurRad="50800" dist="12700" dir="5400000">
              <a:srgbClr val="80808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160520" y="333756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Risk-Aware Decision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(QR-DQN + CVaR)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461504" y="3790188"/>
            <a:ext cx="310896" cy="146304"/>
          </a:xfrm>
          <a:prstGeom prst="rightArrow">
            <a:avLst/>
          </a:prstGeom>
          <a:solidFill>
            <a:srgbClr val="8A8A8A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0" y="3337560"/>
            <a:ext cx="3246120" cy="1051560"/>
          </a:xfrm>
          <a:prstGeom prst="roundRect">
            <a:avLst>
              <a:gd name="adj" fmla="val 869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50800" dist="12700" dir="5400000">
              <a:srgbClr val="80808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772400" y="333756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70916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CADCFC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7091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note:  raw sensor data never leaves its originating site — only model weights and failure-mode prototypes are exchanged.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— Stage-by-Stage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happens at each stage of the pipeline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94960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38100" dist="12700" dir="5400000">
              <a:srgbClr val="80808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53619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536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325880" y="1490472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Preprocessing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325880" y="1828800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PRONOSTIA and NASA C-MAPSS signals are cleaned, RUL labels generated, features extracted (RMS, kurtosis, etc.), and normalized.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688336"/>
            <a:ext cx="5394960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38100" dist="12700" dir="5400000">
              <a:srgbClr val="80808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" y="285292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" y="2852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325880" y="2807208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Federated Client Simulation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325880" y="3145536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partitioned by operating condition (PRONOSTIA) and FD00X subset (C-MAPSS) to simulate independent manufacturing sites.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005072"/>
            <a:ext cx="5394960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38100" dist="12700" dir="5400000">
              <a:srgbClr val="80808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416966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" y="4169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325880" y="4123944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Digital Twin Training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325880" y="4462272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site trains its own model on local data and extracts compressed failure-mode prototypes — raw data never leaves the site.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5321808"/>
            <a:ext cx="5394960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38100" dist="12700" dir="5400000">
              <a:srgbClr val="80808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13232" y="54864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" y="5486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325880" y="544068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Federated Aggregation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325880" y="5779008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 server aggregates model updates/prototypes from all sites via FedAvg/FedProx into one shared global RUL model.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72200" y="1371600"/>
            <a:ext cx="5394960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38100" dist="12700" dir="5400000">
              <a:srgbClr val="80808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36792" y="153619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6336792" y="1536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949440" y="1490472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Prototype-Based Explainability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949440" y="1828800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predictions are matched against the shared prototype library, producing case-based explanations grounded in real examples.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72200" y="2688336"/>
            <a:ext cx="5394960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38100" dist="12700" dir="5400000">
              <a:srgbClr val="80808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36792" y="285292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/>
          <p:nvPr/>
        </p:nvSpPr>
        <p:spPr>
          <a:xfrm>
            <a:off x="6336792" y="2852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6949440" y="2807208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Risk-Aware Decision Layer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949440" y="3145536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matched failure pattern feeds into the QR-DQN + CVaR module (from the ARIIA-2026 pipeline) to time maintenance by risk.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72200" y="4005072"/>
            <a:ext cx="5394960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38100" dist="12700" dir="5400000">
              <a:srgbClr val="808080">
                <a:alpha val="1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336792" y="416966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6" name="Text 34"/>
          <p:cNvSpPr/>
          <p:nvPr/>
        </p:nvSpPr>
        <p:spPr>
          <a:xfrm>
            <a:off x="6336792" y="4169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6949440" y="4123944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&amp; Benchmarking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6949440" y="4462272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pipeline is benchmarked against centralized and standard federated baselines on accuracy, explainability, and efficiency.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172200" y="5321808"/>
            <a:ext cx="5394960" cy="1207008"/>
          </a:xfrm>
          <a:prstGeom prst="roundRect">
            <a:avLst>
              <a:gd name="adj" fmla="val 7576"/>
            </a:avLst>
          </a:prstGeom>
          <a:solidFill>
            <a:srgbClr val="1E2761"/>
          </a:solidFill>
          <a:ln/>
        </p:spPr>
      </p:sp>
      <p:sp>
        <p:nvSpPr>
          <p:cNvPr id="40" name="Text 38"/>
          <p:cNvSpPr/>
          <p:nvPr/>
        </p:nvSpPr>
        <p:spPr>
          <a:xfrm>
            <a:off x="6400800" y="545896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Reused from prior work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6400800" y="5779008"/>
            <a:ext cx="49377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1 and 6 directly extend the author's existing PRONOSTIA / QR-DQN / CVaR pipeline from the ARIIA-2026 paper.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Datasets &amp; Evaluation Metrics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539496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25400" dir="5400000">
              <a:srgbClr val="80808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3716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PRONOSTIA / FEMTO Bearing Dataset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7007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dataset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run-to-failure vibration &amp; temperature data from bearings under 3 operating conditions — used to simulate 3 federated sites.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188720"/>
            <a:ext cx="539496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25400" dir="5400000">
              <a:srgbClr val="80808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46520" y="13716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NASA C-MAPSS Turbofan Dataset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46520" y="17007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dataset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46520" y="201168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turbofan degradation data across 4 subsets (FD001–FD004) — tests generalization across a different machine domain.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3566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Metrics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2697480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42519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RMSE / PHM Score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" y="49377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 prediction accuracy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410712" y="4114800"/>
            <a:ext cx="2697480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3547872" y="42519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Prototype-Match Accuracy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47872" y="49377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 quality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72784" y="4114800"/>
            <a:ext cx="2697480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6409944" y="42519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Communication Cost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9944" y="49377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efficiency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134856" y="4114800"/>
            <a:ext cx="2697480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9272016" y="42519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CVaR Risk Score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272016" y="49377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Risk-aware scheduling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Technologies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Open-source, reproducible tooling across the pipeline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38100" dist="12700" dir="5400000">
              <a:srgbClr val="80808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6479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64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1746504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Federated Learning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31520" y="2313432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Flower (flwr) / NVIDIA FLARE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9120" y="1600200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38100" dist="12700" dir="5400000">
              <a:srgbClr val="80808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176479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1764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74920" y="1746504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Learning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0" y="2313432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0" y="1600200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38100" dist="12700" dir="5400000">
              <a:srgbClr val="80808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0" y="176479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1764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915400" y="1746504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Explainability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412480" y="2313432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ProtoPNet-style implementation, adapted for time-series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246120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38100" dist="12700" dir="5400000">
              <a:srgbClr val="80808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341071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410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34440" y="3392424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Reinforcement Learning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31520" y="3959352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QR-DQN / CVaR (existing ARIIA-2026 codebase)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89120" y="3246120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38100" dist="12700" dir="5400000">
              <a:srgbClr val="80808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0" y="341071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0" y="3410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074920" y="3392424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Handling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572000" y="3959352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pandas, NumPy, PyWavelets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229600" y="3246120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38100" dist="12700" dir="5400000">
              <a:srgbClr val="80808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12480" y="341071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</p:sp>
      <p:sp>
        <p:nvSpPr>
          <p:cNvPr id="31" name="Text 29"/>
          <p:cNvSpPr/>
          <p:nvPr/>
        </p:nvSpPr>
        <p:spPr>
          <a:xfrm>
            <a:off x="8412480" y="3410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915400" y="3392424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Visualization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412480" y="3959352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/ Dash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48640" y="4892040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38100" dist="12700" dir="5400000">
              <a:srgbClr val="808080">
                <a:alpha val="1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31520" y="505663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</p:sp>
      <p:sp>
        <p:nvSpPr>
          <p:cNvPr id="36" name="Text 34"/>
          <p:cNvSpPr/>
          <p:nvPr/>
        </p:nvSpPr>
        <p:spPr>
          <a:xfrm>
            <a:off x="731520" y="5056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1234440" y="5038344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 Tracking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731520" y="5605272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&amp; Biases / MLflow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61188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50800" dist="12700" dir="5400000">
              <a:srgbClr val="80808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389888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77240" y="2057400"/>
            <a:ext cx="3154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RUL prediction across sites without sharing raw sensor data.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89120" y="1280160"/>
            <a:ext cx="361188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50800" dist="12700" dir="5400000">
              <a:srgbClr val="80808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0" y="1389888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617720" y="2057400"/>
            <a:ext cx="3154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 representations with shareable failure-mode prototypes.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0" y="1280160"/>
            <a:ext cx="361188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50800" dist="12700" dir="5400000">
              <a:srgbClr val="80808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412480" y="1389888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8458200" y="2057400"/>
            <a:ext cx="3154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Case-based explanations via prototype-matching, not just feature scores.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361188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50800" dist="12700" dir="5400000">
              <a:srgbClr val="80808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4041648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77240" y="4709160"/>
            <a:ext cx="3154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Risk-aware maintenance scheduling via the QR-DQN/CVaR decision layer.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389120" y="3931920"/>
            <a:ext cx="361188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50800" dist="12700" dir="5400000">
              <a:srgbClr val="80808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0" y="4041648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617720" y="4709160"/>
            <a:ext cx="3154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comparable to centralized models, benchmarked on PRONOSTIA &amp; C-MAPSS.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229600" y="3931920"/>
            <a:ext cx="361188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50800" dist="12700" dir="5400000">
              <a:srgbClr val="80808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412480" y="4041648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8458200" y="4709160"/>
            <a:ext cx="3154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publishable contribution extending the author's ARIIA-2026 research line.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References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77240" y="1490472"/>
            <a:ext cx="91440" cy="914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" y="132588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Nectoux et al. (2012) — PRONOSTIA: An Experimental Platform for Bearings Accelerated Degradation Tests, IEEE PHM.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77240" y="2176272"/>
            <a:ext cx="91440" cy="914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1168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Saxena et al. (2008) — Damage Propagation Modeling for Aircraft Engine Run-to-Failure Simulation, PHM.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77240" y="2862072"/>
            <a:ext cx="91440" cy="914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269748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McMahan et al. (2017) — Communication-Efficient Learning of Deep Networks from Decentralized Data, AISTATS.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7240" y="3547872"/>
            <a:ext cx="91440" cy="914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338328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 et al. (2019) — This Looks Like That: Deep Learning for Interpretable Image Recognition (ProtoPNet), NeurIPS.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7240" y="4233672"/>
            <a:ext cx="91440" cy="914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406908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Federated Learning Framework for Data-Sovereign Predictive Maintenance in Distributed Smart Manufacturing", Applied Sciences (MDPI), 2026.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31520" y="5257800"/>
            <a:ext cx="365760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54864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31520" y="6080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Vishal Shah  |  Symbiosis Institute of Technology, Pune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2026-07-25T08:43:17Z</dcterms:created>
  <dcterms:modified xsi:type="dcterms:W3CDTF">2026-07-25T08:43:17Z</dcterms:modified>
</cp:coreProperties>
</file>